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FFFFFF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FFFFFF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FFFFFF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DEEF"/>
          </a:solidFill>
        </a:fill>
      </a:tcStyle>
    </a:wholeTbl>
    <a:band2H>
      <a:tcTxStyle b="def" i="def"/>
      <a:tcStyle>
        <a:tcBdr/>
        <a:fill>
          <a:solidFill>
            <a:srgbClr val="E9EFF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Arial"/>
      </a:defRPr>
    </a:lvl1pPr>
    <a:lvl2pPr indent="228600" latinLnBrk="0">
      <a:defRPr sz="1200">
        <a:latin typeface="+mj-lt"/>
        <a:ea typeface="+mj-ea"/>
        <a:cs typeface="+mj-cs"/>
        <a:sym typeface="Arial"/>
      </a:defRPr>
    </a:lvl2pPr>
    <a:lvl3pPr indent="457200" latinLnBrk="0">
      <a:defRPr sz="1200">
        <a:latin typeface="+mj-lt"/>
        <a:ea typeface="+mj-ea"/>
        <a:cs typeface="+mj-cs"/>
        <a:sym typeface="Arial"/>
      </a:defRPr>
    </a:lvl3pPr>
    <a:lvl4pPr indent="685800" latinLnBrk="0">
      <a:defRPr sz="1200">
        <a:latin typeface="+mj-lt"/>
        <a:ea typeface="+mj-ea"/>
        <a:cs typeface="+mj-cs"/>
        <a:sym typeface="Arial"/>
      </a:defRPr>
    </a:lvl4pPr>
    <a:lvl5pPr indent="914400" latinLnBrk="0">
      <a:defRPr sz="1200">
        <a:latin typeface="+mj-lt"/>
        <a:ea typeface="+mj-ea"/>
        <a:cs typeface="+mj-cs"/>
        <a:sym typeface="Arial"/>
      </a:defRPr>
    </a:lvl5pPr>
    <a:lvl6pPr indent="1143000" latinLnBrk="0">
      <a:defRPr sz="1200">
        <a:latin typeface="+mj-lt"/>
        <a:ea typeface="+mj-ea"/>
        <a:cs typeface="+mj-cs"/>
        <a:sym typeface="Arial"/>
      </a:defRPr>
    </a:lvl6pPr>
    <a:lvl7pPr indent="1371600" latinLnBrk="0">
      <a:defRPr sz="1200">
        <a:latin typeface="+mj-lt"/>
        <a:ea typeface="+mj-ea"/>
        <a:cs typeface="+mj-cs"/>
        <a:sym typeface="Arial"/>
      </a:defRPr>
    </a:lvl7pPr>
    <a:lvl8pPr indent="1600200" latinLnBrk="0">
      <a:defRPr sz="1200">
        <a:latin typeface="+mj-lt"/>
        <a:ea typeface="+mj-ea"/>
        <a:cs typeface="+mj-cs"/>
        <a:sym typeface="Arial"/>
      </a:defRPr>
    </a:lvl8pPr>
    <a:lvl9pPr indent="1828800" latinLnBrk="0">
      <a:defRPr sz="12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/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12" name="Body Level One…"/>
          <p:cNvSpPr txBox="1"/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21" name="Body Level One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pPr/>
            <a:r>
              <a:t>Title Text</a:t>
            </a:r>
          </a:p>
        </p:txBody>
      </p:sp>
      <p:sp>
        <p:nvSpPr>
          <p:cNvPr id="30" name="Body Level One…"/>
          <p:cNvSpPr txBox="1"/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39" name="Body Level One…"/>
          <p:cNvSpPr txBox="1"/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/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48" name="Body Level One…"/>
          <p:cNvSpPr txBox="1"/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b="1" sz="2400"/>
            </a:lvl1pPr>
            <a:lvl2pPr marL="0" indent="457200">
              <a:buSzTx/>
              <a:buFontTx/>
              <a:buNone/>
              <a:defRPr b="1" sz="2400"/>
            </a:lvl2pPr>
            <a:lvl3pPr marL="0" indent="914400">
              <a:buSzTx/>
              <a:buFontTx/>
              <a:buNone/>
              <a:defRPr b="1" sz="2400"/>
            </a:lvl3pPr>
            <a:lvl4pPr marL="0" indent="1371600">
              <a:buSzTx/>
              <a:buFontTx/>
              <a:buNone/>
              <a:defRPr b="1" sz="2400"/>
            </a:lvl4pPr>
            <a:lvl5pPr marL="0" indent="1828800">
              <a:buSzTx/>
              <a:buFontTx/>
              <a:buNone/>
              <a:defRPr b="1" sz="24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Espace réservé du texte 4"/>
          <p:cNvSpPr/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b="1" sz="2400"/>
            </a:pPr>
          </a:p>
        </p:txBody>
      </p:sp>
      <p:sp>
        <p:nvSpPr>
          <p:cNvPr id="5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Title Text</a:t>
            </a:r>
          </a:p>
        </p:txBody>
      </p:sp>
      <p:sp>
        <p:nvSpPr>
          <p:cNvPr id="5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73" name="Body Level One…"/>
          <p:cNvSpPr txBox="1"/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Espace réservé du texte 3"/>
          <p:cNvSpPr/>
          <p:nvPr>
            <p:ph type="body" sz="quarter" idx="2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</a:p>
        </p:txBody>
      </p:sp>
      <p:sp>
        <p:nvSpPr>
          <p:cNvPr id="7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/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pPr/>
            <a:r>
              <a:t>Title Text</a:t>
            </a:r>
          </a:p>
        </p:txBody>
      </p:sp>
      <p:sp>
        <p:nvSpPr>
          <p:cNvPr id="83" name="Espace réservé pour une image 2"/>
          <p:cNvSpPr/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Body Level One…"/>
          <p:cNvSpPr txBox="1"/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Title Text</a:t>
            </a:r>
          </a:p>
        </p:txBody>
      </p:sp>
      <p:sp>
        <p:nvSpPr>
          <p:cNvPr id="3" name="Body Level One…"/>
          <p:cNvSpPr txBox="1"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/>
          <p:nvPr>
            <p:ph type="sldNum" sz="quarter" idx="2"/>
          </p:nvPr>
        </p:nvSpPr>
        <p:spPr>
          <a:xfrm>
            <a:off x="11080144" y="6406785"/>
            <a:ext cx="273657" cy="26425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image1.png" descr="image1.png"/>
          <p:cNvPicPr>
            <a:picLocks noChangeAspect="1"/>
          </p:cNvPicPr>
          <p:nvPr/>
        </p:nvPicPr>
        <p:blipFill>
          <a:blip r:embed="rId2">
            <a:extLst/>
          </a:blip>
          <a:srcRect l="0" t="1801" r="0" b="0"/>
          <a:stretch>
            <a:fillRect/>
          </a:stretch>
        </p:blipFill>
        <p:spPr>
          <a:xfrm>
            <a:off x="62898" y="2941542"/>
            <a:ext cx="12066476" cy="305360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Table 1"/>
          <p:cNvGraphicFramePr/>
          <p:nvPr/>
        </p:nvGraphicFramePr>
        <p:xfrm>
          <a:off x="1431" y="1434277"/>
          <a:ext cx="12145679" cy="4023361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2281941"/>
                <a:gridCol w="3368580"/>
                <a:gridCol w="1195302"/>
                <a:gridCol w="1955949"/>
                <a:gridCol w="1955949"/>
                <a:gridCol w="1387956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b="1"/>
                        <a:t>Valeurs Métiers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b="1"/>
                        <a:t>Services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Gravité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Disponibilité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Accessibilité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Intégrité</a:t>
                      </a:r>
                    </a:p>
                  </a:txBody>
                  <a:tcPr marL="45720" marR="45720" marT="45720" marB="45720" anchor="t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VM1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Jouer à des jeux en ligne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3/4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VM2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Jouer à des jeux physiques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1/4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VM3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Regarder des films, musique...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3/4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VM4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Acheter des jeux, des films...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VM5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Sauvegarde locale des jeux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1/4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VM6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Authentification (comptes, profile utilisateur)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VM7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Se connecter au PSN (jeu en ligne)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3/4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VM8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Chat vocal pour communiquer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1/4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VM9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Partager ses exploits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1/4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VM10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Accès au web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1/4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</a:tbl>
          </a:graphicData>
        </a:graphic>
      </p:graphicFrame>
      <p:sp>
        <p:nvSpPr>
          <p:cNvPr id="97" name="Titre 1"/>
          <p:cNvSpPr txBox="1"/>
          <p:nvPr>
            <p:ph type="title"/>
          </p:nvPr>
        </p:nvSpPr>
        <p:spPr>
          <a:xfrm>
            <a:off x="838197" y="14939"/>
            <a:ext cx="10515601" cy="1325564"/>
          </a:xfrm>
          <a:prstGeom prst="rect">
            <a:avLst/>
          </a:prstGeom>
        </p:spPr>
        <p:txBody>
          <a:bodyPr/>
          <a:lstStyle/>
          <a:p>
            <a:pPr/>
            <a:r>
              <a:t>Chapitre 1 : Contexte – Biens et services essentiels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9" name="Table 1"/>
          <p:cNvGraphicFramePr/>
          <p:nvPr/>
        </p:nvGraphicFramePr>
        <p:xfrm>
          <a:off x="14648" y="1401606"/>
          <a:ext cx="12150001" cy="4023360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90000"/>
                <a:gridCol w="2970000"/>
                <a:gridCol w="1080000"/>
                <a:gridCol w="1620000"/>
                <a:gridCol w="1620000"/>
                <a:gridCol w="1170000"/>
                <a:gridCol w="1800000"/>
              </a:tblGrid>
              <a:tr h="36576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b="1"/>
                        <a:t>Valeurs Métiers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b="1"/>
                        <a:t>Biens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Gravité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Disponibilité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Accessibilité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Intégrité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Confidentialité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VM1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Binaire des jeux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4/4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VM2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Firmware/OS console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4/4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VM3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Films, musiques...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1/4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VM4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Données bancaires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VM5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Avancement (conf locale)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3/4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VM6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email/mdp + données utilisateurs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VM7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Mdp + données du compte distant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VM8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Liste des participants + voix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VM9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Ce que je fais et à quelle heure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VM10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Historique + infos confidentielles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X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1" name="Table 1"/>
          <p:cNvGraphicFramePr/>
          <p:nvPr/>
        </p:nvGraphicFramePr>
        <p:xfrm>
          <a:off x="381927" y="1340501"/>
          <a:ext cx="11520001" cy="2194562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1890000"/>
                <a:gridCol w="2970000"/>
                <a:gridCol w="1530000"/>
                <a:gridCol w="1890000"/>
                <a:gridCol w="1440000"/>
                <a:gridCol w="18000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Sources de risque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Objectifs visés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Motivation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Ressources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Activité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Pertinence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Joueurs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Jouer à des jeux non authentiques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+++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Élevée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Concurrents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Cloner la console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+++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Moyenne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Joueurs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Émuler la console originelle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+++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Moyenne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Escrocs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Vol de coordonnées bancaires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+++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+++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+++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Élevée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Concurrents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Rendre la console injouable afin de nuire à l’image de marque</a:t>
                      </a:r>
                    </a:p>
                  </a:txBody>
                  <a:tcPr marL="45720" marR="45720" marT="45720" marB="45720" anchor="t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+++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+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Faible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00B050"/>
                    </a:solidFill>
                  </a:tcPr>
                </a:tc>
              </a:tr>
            </a:tbl>
          </a:graphicData>
        </a:graphic>
      </p:graphicFrame>
      <p:sp>
        <p:nvSpPr>
          <p:cNvPr id="102" name="Titre 1"/>
          <p:cNvSpPr txBox="1"/>
          <p:nvPr>
            <p:ph type="title"/>
          </p:nvPr>
        </p:nvSpPr>
        <p:spPr>
          <a:xfrm>
            <a:off x="838197" y="14940"/>
            <a:ext cx="10515601" cy="1325564"/>
          </a:xfrm>
          <a:prstGeom prst="rect">
            <a:avLst/>
          </a:prstGeom>
        </p:spPr>
        <p:txBody>
          <a:bodyPr/>
          <a:lstStyle/>
          <a:p>
            <a:pPr/>
            <a:r>
              <a:t>Chapitre 1 : Contexte – Sources de risque/attaquants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itre 1"/>
          <p:cNvSpPr txBox="1"/>
          <p:nvPr>
            <p:ph type="title"/>
          </p:nvPr>
        </p:nvSpPr>
        <p:spPr>
          <a:xfrm>
            <a:off x="838197" y="14940"/>
            <a:ext cx="10515601" cy="1325564"/>
          </a:xfrm>
          <a:prstGeom prst="rect">
            <a:avLst/>
          </a:prstGeom>
        </p:spPr>
        <p:txBody>
          <a:bodyPr/>
          <a:lstStyle/>
          <a:p>
            <a:pPr/>
            <a:r>
              <a:t>Chapitre 2 : Événements redoutés</a:t>
            </a:r>
          </a:p>
        </p:txBody>
      </p:sp>
      <p:graphicFrame>
        <p:nvGraphicFramePr>
          <p:cNvPr id="105" name="Table 1"/>
          <p:cNvGraphicFramePr/>
          <p:nvPr/>
        </p:nvGraphicFramePr>
        <p:xfrm>
          <a:off x="280146" y="1136394"/>
          <a:ext cx="11520000" cy="2529841"/>
        </p:xfrm>
        <a:graphic xmlns:a="http://schemas.openxmlformats.org/drawingml/2006/main">
          <a:graphicData uri="http://schemas.openxmlformats.org/drawingml/2006/table">
            <a:tbl>
              <a:tblPr firstCol="1" firstRow="1" lastCol="0" lastRow="0" bandCol="0" bandRow="1" rtl="0">
                <a:tableStyleId>{4C3C2611-4C71-4FC5-86AE-919BDF0F9419}</a:tableStyleId>
              </a:tblPr>
              <a:tblGrid>
                <a:gridCol w="630000"/>
                <a:gridCol w="1980000"/>
                <a:gridCol w="2520000"/>
                <a:gridCol w="2520000"/>
                <a:gridCol w="1350000"/>
                <a:gridCol w="2520000"/>
              </a:tblGrid>
              <a:tr h="384810"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 sz="1200"/>
                        <a:t>ID ER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 sz="1200"/>
                        <a:t>Événement redouté (description)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 sz="1200"/>
                        <a:t>VM / Services concernés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 sz="1200"/>
                        <a:t>Biens impactés (exemples)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 sz="1200"/>
                        <a:t>Gravité (1–4)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 sz="1200"/>
                        <a:t>Types d’impact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ER1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Piratage massif des jeux PS4 (possibilité de jouer à des jeux non authentiques)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VM1 Jouer en ligne, VM2 Jouer à des jeux physiques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Binaire des jeux (4/4), Firmware/OS (4/4)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/>
                        <a:t>4/4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Financier (perte de ventes), Image (perte de confiance éditeurs/joueurs)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ER2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Altération du firmware / OS rendant la console instable ou injouable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VM2 Jouer à des jeux physiques, VM1/VM7 si la console ne peut plus se connecter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Firmware/OS console (4/4)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/>
                        <a:t>4/4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Opérationnel (console inutilisable), Image, Support SAV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ER3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Compromission des données bancaires des utilisateurs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VM4 Acheter des jeux/films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Données bancaires (2/4)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/>
                        <a:t>2/4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Financier, Juridique, Image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20193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ER4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Perte ou corruption des sauvegardes locales de jeux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VM5 Sauvegarde locale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Avancement (conf locale) (3/4)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/>
                        <a:t>3/4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Satisfaction client, Support, Fidélité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ER5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Compromission des comptes et données utilisateurs (email, mots de passe, historique, profil)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VM6 VM7 VM9 VM10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email/mdp + données utilisateurs (2/4), mdp compte distant (2/4), historique + infos confidentielles (2/4)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t>3/4</a:t>
                      </a:r>
                      <a:r>
                        <a:rPr b="0"/>
                        <a:t> (cumul des biens à 2/4)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Image, Vie privée, Juridique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20193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ER6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Atteinte à la confidentialité des communications (chat vocal, liste de participants)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VM8 Chat vocal, VM9 Partage exploits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Liste des participants + voix (2/4), ce que je fais et à quelle heure (2/4)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/>
                        <a:t>2/4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Vie privée, Confiance dans le service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20193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ER7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Indisponibilité significative des services en ligne (PSN, jeu en ligne, achats)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VM1 Jouer en ligne, VM3 Streaming, VM4 Achat, VM7 Connexion PSN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Services PSN, Store (gravité 3/4 côté services)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/>
                        <a:t>3/4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Financier, Image, Satisfaction client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20193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ER8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Mise en ligne d’un émulateur permettant de se substituer à la console 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VM1 Jouer en ligne, VM2 Jouer à des jeux physiques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Binaire des jeux (4/4), Firmware/OS (4/4)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 sz="1200"/>
                        <a:t>4/4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EA332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Financier (perte de ventes), Image (perte de confiance éditeurs/joueurs)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itre 1"/>
          <p:cNvSpPr txBox="1"/>
          <p:nvPr>
            <p:ph type="title"/>
          </p:nvPr>
        </p:nvSpPr>
        <p:spPr>
          <a:xfrm>
            <a:off x="839787" y="365123"/>
            <a:ext cx="10515601" cy="1325564"/>
          </a:xfrm>
          <a:prstGeom prst="rect">
            <a:avLst/>
          </a:prstGeom>
        </p:spPr>
        <p:txBody>
          <a:bodyPr/>
          <a:lstStyle/>
          <a:p>
            <a:pPr/>
            <a:r>
              <a:t>Chapitre 3 : Scénarios de menace</a:t>
            </a:r>
          </a:p>
        </p:txBody>
      </p:sp>
      <p:graphicFrame>
        <p:nvGraphicFramePr>
          <p:cNvPr id="108" name="Table 1"/>
          <p:cNvGraphicFramePr/>
          <p:nvPr/>
        </p:nvGraphicFramePr>
        <p:xfrm>
          <a:off x="518463" y="1469570"/>
          <a:ext cx="9047771" cy="2327911"/>
        </p:xfrm>
        <a:graphic xmlns:a="http://schemas.openxmlformats.org/drawingml/2006/main">
          <a:graphicData uri="http://schemas.openxmlformats.org/drawingml/2006/table">
            <a:tbl>
              <a:tblPr firstCol="1" firstRow="1" lastCol="0" lastRow="0" bandCol="0" bandRow="1" rtl="0">
                <a:tableStyleId>{4C3C2611-4C71-4FC5-86AE-919BDF0F9419}</a:tableStyleId>
              </a:tblPr>
              <a:tblGrid>
                <a:gridCol w="855781"/>
                <a:gridCol w="1828720"/>
                <a:gridCol w="1889095"/>
                <a:gridCol w="3380487"/>
                <a:gridCol w="1093686"/>
              </a:tblGrid>
              <a:tr h="384810"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 sz="1200"/>
                        <a:t>ID Scénario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 sz="1200"/>
                        <a:t>Source de risque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 sz="1200"/>
                        <a:t>ER ciblé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 sz="1200"/>
                        <a:t>Description du scénario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 sz="1200"/>
                        <a:t>Probabilité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20193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SM1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Joueurs – jouer à des jeux non authentiques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ER1 (piratage des jeux)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Un joueur suit un tutoriel (forum / YouTube) pour exploiter une faille du firmware, installer un custom firmware et lancer des jeux non authentiques.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t>+++</a:t>
                      </a:r>
                    </a:p>
                    <a:p>
                      <a:pPr algn="ctr">
                        <a:defRPr b="1"/>
                      </a:pPr>
                      <a:r>
                        <a:t>Élevée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0000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SM2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Joueurs – émuler la console originelle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ER1/ER8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Des communautés d’émulation analysent les binaires et le firmware pour développer un émulateur PS4 sur PC, permettant de lancer des jeux sans console.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t>++</a:t>
                      </a:r>
                    </a:p>
                    <a:p>
                      <a:pPr algn="ctr">
                        <a:defRPr b="1"/>
                      </a:pPr>
                      <a:r>
                        <a:t>Moyenne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</a:tr>
              <a:tr h="20193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SM3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Escrocs – vol de coordonnées bancaires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ER3 (données bancaires)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Des cybercriminels mettent en place des pages de phishing imitant le PS Store / PSN pour récupérer les identifiants et données CB des joueurs.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t>+++</a:t>
                      </a:r>
                    </a:p>
                    <a:p>
                      <a:pPr algn="ctr">
                        <a:defRPr b="1"/>
                      </a:pPr>
                      <a:r>
                        <a:t>Élevée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0000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SM4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Escrocs – vol de comptes PSN / données utilisateur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ER5 (compte et données)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Attaques par phishing, récupération de mots de passe réutilisés, puis accès aux comptes PSN (e-mail/mdp) et historique.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t>++</a:t>
                      </a:r>
                    </a:p>
                    <a:p>
                      <a:pPr algn="ctr">
                        <a:defRPr b="1"/>
                      </a:pPr>
                      <a:r>
                        <a:t>Moyenne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SM5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Concurrents – cloner partiellement la console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ER1 / ER2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Un concurrent analyse la console (reverse engineering) pour reproduire certaines fonctions matérielles/logicielles ou contourner des protections.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t>+</a:t>
                      </a:r>
                    </a:p>
                    <a:p>
                      <a:pPr algn="ctr">
                        <a:defRPr b="1"/>
                      </a:pPr>
                      <a:r>
                        <a:t>Faible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00B050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SM6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Concurrents – rendre la console injouable pour nuire à l’image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ER2 / ER7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Hypothèse de sabotage (exemple théorique) via exploitation de vulnérabilités ou campagnes de désinformation sur la stabilité de la console.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1"/>
                      </a:pPr>
                      <a:r>
                        <a:t>+</a:t>
                      </a:r>
                    </a:p>
                    <a:p>
                      <a:pPr algn="ctr">
                        <a:defRPr b="1"/>
                      </a:pPr>
                      <a:r>
                        <a:t>Faible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00B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Titre 1"/>
          <p:cNvSpPr txBox="1"/>
          <p:nvPr>
            <p:ph type="title"/>
          </p:nvPr>
        </p:nvSpPr>
        <p:spPr>
          <a:xfrm>
            <a:off x="839787" y="365123"/>
            <a:ext cx="10515601" cy="1325564"/>
          </a:xfrm>
          <a:prstGeom prst="rect">
            <a:avLst/>
          </a:prstGeom>
        </p:spPr>
        <p:txBody>
          <a:bodyPr/>
          <a:lstStyle/>
          <a:p>
            <a:pPr/>
            <a:r>
              <a:t>Chapitre 4 : Risques (cotation)</a:t>
            </a:r>
          </a:p>
        </p:txBody>
      </p:sp>
      <p:sp>
        <p:nvSpPr>
          <p:cNvPr id="111" name="Espace réservé du contenu 3"/>
          <p:cNvSpPr txBox="1"/>
          <p:nvPr>
            <p:ph type="body" sz="half" idx="1"/>
          </p:nvPr>
        </p:nvSpPr>
        <p:spPr>
          <a:xfrm>
            <a:off x="839786" y="1690686"/>
            <a:ext cx="6346178" cy="4498975"/>
          </a:xfrm>
          <a:prstGeom prst="rect">
            <a:avLst/>
          </a:prstGeom>
        </p:spPr>
        <p:txBody>
          <a:bodyPr anchor="t"/>
          <a:lstStyle/>
          <a:p>
            <a:pPr defTabSz="868680">
              <a:lnSpc>
                <a:spcPct val="87300"/>
              </a:lnSpc>
              <a:spcBef>
                <a:spcPts val="900"/>
              </a:spcBef>
              <a:defRPr b="0" sz="1425"/>
            </a:pPr>
            <a:r>
              <a:t>Ici on combine :</a:t>
            </a:r>
            <a:endParaRPr sz="1710"/>
          </a:p>
          <a:p>
            <a:pPr defTabSz="868680">
              <a:lnSpc>
                <a:spcPct val="87300"/>
              </a:lnSpc>
              <a:spcBef>
                <a:spcPts val="900"/>
              </a:spcBef>
              <a:defRPr b="0" sz="1710"/>
            </a:pPr>
          </a:p>
          <a:p>
            <a:pPr defTabSz="868680">
              <a:lnSpc>
                <a:spcPct val="87300"/>
              </a:lnSpc>
              <a:spcBef>
                <a:spcPts val="900"/>
              </a:spcBef>
              <a:defRPr b="0" i="1" sz="1425"/>
            </a:pPr>
            <a:r>
              <a:t>Impact</a:t>
            </a:r>
            <a:r>
              <a:rPr i="0"/>
              <a:t> (gravité de l’ER) × </a:t>
            </a:r>
            <a:r>
              <a:t>Probabilité </a:t>
            </a:r>
            <a:r>
              <a:rPr i="0"/>
              <a:t>(scénario)</a:t>
            </a:r>
            <a:endParaRPr sz="1710"/>
          </a:p>
          <a:p>
            <a:pPr defTabSz="868680">
              <a:lnSpc>
                <a:spcPct val="87300"/>
              </a:lnSpc>
              <a:spcBef>
                <a:spcPts val="900"/>
              </a:spcBef>
              <a:defRPr b="0" sz="1425"/>
            </a:pPr>
            <a:r>
              <a:t>et on classe en : Faible / Moyen / Élevé / Critique.</a:t>
            </a:r>
            <a:endParaRPr sz="1710"/>
          </a:p>
          <a:p>
            <a:pPr defTabSz="868680">
              <a:lnSpc>
                <a:spcPct val="87300"/>
              </a:lnSpc>
              <a:spcBef>
                <a:spcPts val="900"/>
              </a:spcBef>
              <a:defRPr b="0" sz="1710"/>
            </a:pPr>
          </a:p>
          <a:p>
            <a:pPr defTabSz="868680">
              <a:lnSpc>
                <a:spcPct val="87300"/>
              </a:lnSpc>
              <a:spcBef>
                <a:spcPts val="900"/>
              </a:spcBef>
              <a:defRPr b="0" sz="1425"/>
            </a:pPr>
            <a:r>
              <a:t>On définit l’échelle suivante :</a:t>
            </a:r>
            <a:endParaRPr sz="1710"/>
          </a:p>
          <a:p>
            <a:pPr defTabSz="868680">
              <a:lnSpc>
                <a:spcPct val="87300"/>
              </a:lnSpc>
              <a:spcBef>
                <a:spcPts val="900"/>
              </a:spcBef>
              <a:defRPr b="0" sz="1710"/>
            </a:pPr>
          </a:p>
          <a:p>
            <a:pPr defTabSz="868680">
              <a:lnSpc>
                <a:spcPct val="87300"/>
              </a:lnSpc>
              <a:spcBef>
                <a:spcPts val="900"/>
              </a:spcBef>
              <a:defRPr b="0" sz="1425"/>
            </a:pPr>
            <a:r>
              <a:t>1–3 : Faible</a:t>
            </a:r>
            <a:endParaRPr sz="1710"/>
          </a:p>
          <a:p>
            <a:pPr defTabSz="868680">
              <a:lnSpc>
                <a:spcPct val="87300"/>
              </a:lnSpc>
              <a:spcBef>
                <a:spcPts val="900"/>
              </a:spcBef>
              <a:defRPr b="0" sz="1710"/>
            </a:pPr>
          </a:p>
          <a:p>
            <a:pPr defTabSz="868680">
              <a:lnSpc>
                <a:spcPct val="87300"/>
              </a:lnSpc>
              <a:spcBef>
                <a:spcPts val="900"/>
              </a:spcBef>
              <a:defRPr b="0" sz="1425"/>
            </a:pPr>
            <a:r>
              <a:t>4–6 : Moyen</a:t>
            </a:r>
            <a:endParaRPr sz="1710"/>
          </a:p>
          <a:p>
            <a:pPr defTabSz="868680">
              <a:lnSpc>
                <a:spcPct val="87300"/>
              </a:lnSpc>
              <a:spcBef>
                <a:spcPts val="900"/>
              </a:spcBef>
              <a:defRPr b="0" sz="1710"/>
            </a:pPr>
          </a:p>
          <a:p>
            <a:pPr defTabSz="868680">
              <a:lnSpc>
                <a:spcPct val="87300"/>
              </a:lnSpc>
              <a:spcBef>
                <a:spcPts val="900"/>
              </a:spcBef>
              <a:defRPr b="0" sz="1425"/>
            </a:pPr>
            <a:r>
              <a:t>7–9 : Élevé</a:t>
            </a:r>
            <a:endParaRPr sz="1710"/>
          </a:p>
          <a:p>
            <a:pPr defTabSz="868680">
              <a:lnSpc>
                <a:spcPct val="87300"/>
              </a:lnSpc>
              <a:spcBef>
                <a:spcPts val="900"/>
              </a:spcBef>
              <a:defRPr b="0" sz="1710"/>
            </a:pPr>
          </a:p>
          <a:p>
            <a:pPr defTabSz="868680">
              <a:lnSpc>
                <a:spcPct val="87300"/>
              </a:lnSpc>
              <a:spcBef>
                <a:spcPts val="900"/>
              </a:spcBef>
              <a:defRPr b="0" sz="1425"/>
            </a:pPr>
            <a:r>
              <a:t>10–12 : Critique </a:t>
            </a:r>
          </a:p>
        </p:txBody>
      </p:sp>
      <p:graphicFrame>
        <p:nvGraphicFramePr>
          <p:cNvPr id="112" name="Table 1"/>
          <p:cNvGraphicFramePr/>
          <p:nvPr/>
        </p:nvGraphicFramePr>
        <p:xfrm>
          <a:off x="6900212" y="2491014"/>
          <a:ext cx="4837657" cy="3313985"/>
        </p:xfrm>
        <a:graphic xmlns:a="http://schemas.openxmlformats.org/drawingml/2006/main">
          <a:graphicData uri="http://schemas.openxmlformats.org/drawingml/2006/table">
            <a:tbl>
              <a:tblPr firstCol="0" firstRow="1" lastCol="0" lastRow="0" bandCol="0" bandRow="1" rtl="0">
                <a:tableStyleId>{4C3C2611-4C71-4FC5-86AE-919BDF0F9419}</a:tableStyleId>
              </a:tblPr>
              <a:tblGrid>
                <a:gridCol w="360000"/>
                <a:gridCol w="1492552"/>
                <a:gridCol w="1492552"/>
                <a:gridCol w="1492552"/>
              </a:tblGrid>
              <a:tr h="805996"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t>4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R5 – R6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R4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R3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C00000"/>
                    </a:solidFill>
                  </a:tcPr>
                </a:tc>
              </a:tr>
              <a:tr h="8059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3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/>
                        <a:t>R2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0000"/>
                    </a:solidFill>
                  </a:tcPr>
                </a:tc>
              </a:tr>
              <a:tr h="8059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rPr b="1"/>
                        <a:t>R1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</a:tr>
              <a:tr h="805996"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1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>
                    <a:solidFill>
                      <a:srgbClr val="00B050"/>
                    </a:solidFill>
                  </a:tcPr>
                </a:tc>
              </a:tr>
              <a:tr h="10160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1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3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</a:tbl>
          </a:graphicData>
        </a:graphic>
      </p:graphicFrame>
      <p:sp>
        <p:nvSpPr>
          <p:cNvPr id="113" name="Probabilité"/>
          <p:cNvSpPr txBox="1"/>
          <p:nvPr/>
        </p:nvSpPr>
        <p:spPr>
          <a:xfrm>
            <a:off x="8739235" y="6093459"/>
            <a:ext cx="1184299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Probabilité</a:t>
            </a:r>
          </a:p>
        </p:txBody>
      </p:sp>
      <p:sp>
        <p:nvSpPr>
          <p:cNvPr id="114" name="Impact"/>
          <p:cNvSpPr txBox="1"/>
          <p:nvPr/>
        </p:nvSpPr>
        <p:spPr>
          <a:xfrm rot="16199969">
            <a:off x="6314343" y="4110911"/>
            <a:ext cx="790164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/>
            <a:r>
              <a:t>Impact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itre 1"/>
          <p:cNvSpPr txBox="1"/>
          <p:nvPr>
            <p:ph type="title"/>
          </p:nvPr>
        </p:nvSpPr>
        <p:spPr>
          <a:xfrm>
            <a:off x="839786" y="365123"/>
            <a:ext cx="11326392" cy="1325564"/>
          </a:xfrm>
          <a:prstGeom prst="rect">
            <a:avLst/>
          </a:prstGeom>
        </p:spPr>
        <p:txBody>
          <a:bodyPr/>
          <a:lstStyle/>
          <a:p>
            <a:pPr/>
            <a:r>
              <a:t>Chapitre 4 : Risques – Cotation des risques</a:t>
            </a:r>
          </a:p>
        </p:txBody>
      </p:sp>
      <p:graphicFrame>
        <p:nvGraphicFramePr>
          <p:cNvPr id="117" name="Table 1"/>
          <p:cNvGraphicFramePr/>
          <p:nvPr/>
        </p:nvGraphicFramePr>
        <p:xfrm>
          <a:off x="54428" y="1455964"/>
          <a:ext cx="12056398" cy="2145030"/>
        </p:xfrm>
        <a:graphic xmlns:a="http://schemas.openxmlformats.org/drawingml/2006/main">
          <a:graphicData uri="http://schemas.openxmlformats.org/drawingml/2006/table">
            <a:tbl>
              <a:tblPr firstCol="1" firstRow="1" lastCol="0" lastRow="0" bandCol="0" bandRow="1" rtl="0">
                <a:tableStyleId>{4C3C2611-4C71-4FC5-86AE-919BDF0F9419}</a:tableStyleId>
              </a:tblPr>
              <a:tblGrid>
                <a:gridCol w="990000"/>
                <a:gridCol w="2641998"/>
                <a:gridCol w="2628680"/>
                <a:gridCol w="1029320"/>
                <a:gridCol w="1440000"/>
                <a:gridCol w="900000"/>
                <a:gridCol w="2426399"/>
              </a:tblGrid>
              <a:tr h="384810"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ID Risque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Scénario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ER associé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Impact (1–4)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Probabilité (1–3)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Score (I×P)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b="0" sz="1800"/>
                      </a:pPr>
                      <a:r>
                        <a:rPr b="1"/>
                        <a:t>Niveau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20193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t>R1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SM3 – Phishing CB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ER3 – Compromission données bancaires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3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6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800"/>
                      </a:pPr>
                      <a:r>
                        <a:t>Moyen à élevé</a:t>
                      </a:r>
                      <a:r>
                        <a:rPr b="0"/>
                        <a:t> (surtout sensible image/juridique)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t>R2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SM4 – Vol de comptes PSN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ER5 – Compromission comptes et données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3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3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9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Élevé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t>R3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SM1 – Custom firmware / jeux non authentiques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ER1 – Piratage massif des jeux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4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3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12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800"/>
                      </a:pPr>
                      <a:r>
                        <a:t>Critique</a:t>
                      </a:r>
                      <a:r>
                        <a:rPr b="0"/>
                        <a:t> (risque économique majeur)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t>R4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SM2 – Émulation PS4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ER1 / ER8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4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2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8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800"/>
                      </a:pPr>
                      <a:r>
                        <a:t>Élevé</a:t>
                      </a:r>
                      <a:r>
                        <a:rPr b="0"/>
                        <a:t> (impact fort mais mise en œuvre plus complexe)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20193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t>R5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SM5 – Clonage par concurrents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ER1 / ER2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4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1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Moyen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20193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t>R6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SM6 – Sabotage par concurrents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ER2 / ER7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4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1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ctr">
                        <a:defRPr sz="1800"/>
                      </a:pPr>
                      <a:r>
                        <a:t>4</a:t>
                      </a:r>
                    </a:p>
                  </a:txBody>
                  <a:tcPr marL="45720" marR="45720" marT="45720" marB="45720" anchor="ctr" anchorCtr="0" horzOverflow="overflow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b="1" sz="1800"/>
                      </a:pPr>
                      <a:r>
                        <a:t>Moyen</a:t>
                      </a:r>
                      <a:r>
                        <a:rPr b="0"/>
                        <a:t> (scénario peu probable mais impact fort)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itre 1"/>
          <p:cNvSpPr txBox="1"/>
          <p:nvPr>
            <p:ph type="title"/>
          </p:nvPr>
        </p:nvSpPr>
        <p:spPr>
          <a:xfrm>
            <a:off x="839787" y="155013"/>
            <a:ext cx="10515601" cy="1325564"/>
          </a:xfrm>
          <a:prstGeom prst="rect">
            <a:avLst/>
          </a:prstGeom>
        </p:spPr>
        <p:txBody>
          <a:bodyPr/>
          <a:lstStyle/>
          <a:p>
            <a:pPr/>
            <a:r>
              <a:t>Chapitre 5 : Mesures de sécurité</a:t>
            </a:r>
          </a:p>
        </p:txBody>
      </p:sp>
      <p:graphicFrame>
        <p:nvGraphicFramePr>
          <p:cNvPr id="120" name="Table 1"/>
          <p:cNvGraphicFramePr/>
          <p:nvPr/>
        </p:nvGraphicFramePr>
        <p:xfrm>
          <a:off x="70035" y="1312488"/>
          <a:ext cx="11970001" cy="5369017"/>
        </p:xfrm>
        <a:graphic xmlns:a="http://schemas.openxmlformats.org/drawingml/2006/main">
          <a:graphicData uri="http://schemas.openxmlformats.org/drawingml/2006/table">
            <a:tbl>
              <a:tblPr firstCol="1" firstRow="1" lastCol="0" lastRow="0" bandCol="0" bandRow="1" rtl="0">
                <a:tableStyleId>{4C3C2611-4C71-4FC5-86AE-919BDF0F9419}</a:tableStyleId>
              </a:tblPr>
              <a:tblGrid>
                <a:gridCol w="2430000"/>
                <a:gridCol w="1440000"/>
                <a:gridCol w="6300000"/>
                <a:gridCol w="1800000"/>
              </a:tblGrid>
              <a:tr h="411646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b="1" sz="1200"/>
                        <a:t>Risque prioritaire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b="1" sz="1200"/>
                        <a:t>Objectif de sécurité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b="1" sz="1200"/>
                        <a:t>Mesures de sécurité (exemples)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b="1" sz="1200"/>
                        <a:t>Type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757621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R3 – Piratage des jeux (custom firmware, jeux non authentiques)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Protéger l’intégrité des jeux et du firmware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Secure boot, signature numérique obligatoire des binaires, vérification d’intégrité du firmware, chiffrement des partitions sensibles, mises à jour régulières pour corriger les failles exploitées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Prévention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584633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Monitoring des consoles détectées non conformes, mécanisme de bannissement de compte/console, détection d’anomalies côté PSN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Détection / Réaction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930608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R2 – Vol de comptes PSN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Protéger l’authentification et les données utilisateur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Authentification renforcée (2FA), détection de connexions suspectes, limitation des tentatives de login, sensibilisation des joueurs aux risques de phishing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Prévention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584633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Alertes utilisateur en cas de connexion depuis un nouvel appareil / pays, mécanisme simple de récupération de compte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Détection / Réaction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930608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R4 – Émulation PS4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Limiter le reverse engineering et la facilité d’émulation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Durcissement du firmware, vérification matérielle (présence de composants spécifiques), protocoles propriétaires entre console et PSN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Prévention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757621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sz="1200"/>
                        <a:t>R1 – Vol de données bancaires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Protéger la confidentialité des paiements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Paiement via prestataires conformes PCI-DSS, tokenisation des cartes, chiffrement fort des canaux, aucune conservation locale des données CB sur la PS4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Prévention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411646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Systèmes de détection de fraude, alerte et blocage en cas de comportements anormaux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200"/>
                        <a:t>Détection / Réaction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itre 1"/>
          <p:cNvSpPr txBox="1"/>
          <p:nvPr>
            <p:ph type="title"/>
          </p:nvPr>
        </p:nvSpPr>
        <p:spPr>
          <a:xfrm>
            <a:off x="839787" y="365123"/>
            <a:ext cx="10515601" cy="1325564"/>
          </a:xfrm>
          <a:prstGeom prst="rect">
            <a:avLst/>
          </a:prstGeom>
        </p:spPr>
        <p:txBody>
          <a:bodyPr/>
          <a:lstStyle/>
          <a:p>
            <a:pPr/>
            <a:r>
              <a:t>Chapitre 5 : Mesures de sécurité</a:t>
            </a:r>
          </a:p>
        </p:txBody>
      </p:sp>
      <p:graphicFrame>
        <p:nvGraphicFramePr>
          <p:cNvPr id="123" name="Table 1"/>
          <p:cNvGraphicFramePr/>
          <p:nvPr/>
        </p:nvGraphicFramePr>
        <p:xfrm>
          <a:off x="2253539" y="2255518"/>
          <a:ext cx="7688095" cy="1173481"/>
        </p:xfrm>
        <a:graphic xmlns:a="http://schemas.openxmlformats.org/drawingml/2006/main">
          <a:graphicData uri="http://schemas.openxmlformats.org/drawingml/2006/table">
            <a:tbl>
              <a:tblPr firstCol="1" firstRow="1" lastCol="0" lastRow="0" bandCol="0" bandRow="1" rtl="0">
                <a:tableStyleId>{4C3C2611-4C71-4FC5-86AE-919BDF0F9419}</a:tableStyleId>
              </a:tblPr>
              <a:tblGrid>
                <a:gridCol w="2802140"/>
                <a:gridCol w="1157859"/>
                <a:gridCol w="3728094"/>
              </a:tblGrid>
              <a:tr h="38481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b="1"/>
                        <a:t>VM critique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b="1"/>
                        <a:t>Risques couverts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rPr b="1"/>
                        <a:t>Mesures clés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20193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t>VM1 Jouer à des jeux en ligne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R3, R4, R7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Intégrité des jeux, disponibilité PSN, mise à jour régulière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20193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t>VM4 Acheter des jeux/films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R1, R2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Sécurisation des paiements, protection des comptes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  <a:tr h="384810">
                <a:tc>
                  <a:txBody>
                    <a:bodyPr/>
                    <a:lstStyle/>
                    <a:p>
                      <a:pPr algn="l">
                        <a:defRPr b="0" sz="1800"/>
                      </a:pPr>
                      <a:r>
                        <a:t>VM6/VM7 Authentification &amp; compte distant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R2</a:t>
                      </a:r>
                    </a:p>
                  </a:txBody>
                  <a:tcPr marL="45720" marR="45720" marT="45720" marB="45720" anchor="ctr" anchorCtr="0" horzOverflow="overflow"/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t>2FA, politiques de mots de passe, surveillance des connexions</a:t>
                      </a:r>
                    </a:p>
                  </a:txBody>
                  <a:tcPr marL="45720" marR="45720" marT="45720" marB="45720" anchor="ctr" anchorCtr="0" horzOverflow="overflow"/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