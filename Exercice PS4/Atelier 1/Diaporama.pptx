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009889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610230906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1933080045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730009121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758350349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93730835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483511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245901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1786490867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46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267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2219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50068-02D0-2CF5-C7E6-623F9678F9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3550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9678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2943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259FAD-4DAD-4A08-26EB-5B079F99F2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2256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2740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708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CC7467-82FF-F909-D5AA-BCED612018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0458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7704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8605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4D6470-CB11-2D4D-6E21-6475DDC88D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034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1411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404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DE3C139-721C-6840-D35B-1F5705E7A8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272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53916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2243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04DF15-5D78-BCA9-D4C2-C10BB4710B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182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94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49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CCF574-1AEA-7C54-D7C7-F009FE4A4F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0ECCCC-8D1D-C08A-268D-DAA40B1903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72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6579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97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65B484-00C7-D35A-0B42-4E1FE532A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1184789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149177284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141102021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213552828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90055765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4119191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241202790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52623588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02948689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61419747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184888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6559853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8291344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814017181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84105197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291071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844780565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97358126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31492773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42275301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32125566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853695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80288649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72720381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9395242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916680678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097907282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062845588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32618978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99748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820893000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457937962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33837185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61810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721530008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54724027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895324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23918025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717344001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2049897476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2012984594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956579350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418366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774527472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685378778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71145310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875058390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92547986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75472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2027619568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33541165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07847382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5780447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026051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463760602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2937082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883055047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39339546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39808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71819627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058197734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1977116443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26342779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143718" name=""/>
          <p:cNvPicPr>
            <a:picLocks noChangeAspect="1"/>
          </p:cNvPicPr>
          <p:nvPr/>
        </p:nvPicPr>
        <p:blipFill rotWithShape="1">
          <a:blip r:embed="rId3"/>
          <a:srcRect l="0" t="1801" r="0" b="0"/>
          <a:stretch/>
        </p:blipFill>
        <p:spPr bwMode="auto">
          <a:xfrm flipH="0" flipV="0">
            <a:off x="62898" y="2941543"/>
            <a:ext cx="12066475" cy="3053601"/>
          </a:xfrm>
          <a:prstGeom prst="rect">
            <a:avLst/>
          </a:prstGeom>
        </p:spPr>
      </p:pic>
      <p:sp>
        <p:nvSpPr>
          <p:cNvPr id="594181352" name="Titre 1"/>
          <p:cNvSpPr>
            <a:spLocks noGrp="1"/>
          </p:cNvSpPr>
          <p:nvPr/>
        </p:nvSpPr>
        <p:spPr bwMode="auto">
          <a:xfrm>
            <a:off x="838198" y="14940"/>
            <a:ext cx="10515600" cy="1325562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/>
              <a:t>Chapitre 1 : Contexte - Périmètre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582931672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1432" y="1434278"/>
          <a:ext cx="12158382" cy="458469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2281941"/>
                <a:gridCol w="3368580"/>
                <a:gridCol w="1195302"/>
                <a:gridCol w="1955949"/>
                <a:gridCol w="1955949"/>
                <a:gridCol w="1387956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Valeurs Métiers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Services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Gravité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Disponibilité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Accessibilité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Intégrité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Jouer à des jeux en ligne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Jouer à des jeux physiques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Regarder des films, musique...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Acheter des jeux, des films...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Sauvegarde locale des jeux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Authentification (comptes, profile utilisateur)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VM7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 connecter au PSN (jeu en ligne)</a:t>
                      </a:r>
                      <a:endParaRPr sz="18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VM8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Chat vocal pour communiquer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VM9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</a:rPr>
                        <a:t>Partager ses exploits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fr-FR" sz="1800" b="0" i="0" u="none" strike="noStrike" cap="none" spc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</a:rPr>
                        <a:t>Accès au web</a:t>
                      </a:r>
                      <a:endParaRPr lang="fr-FR" sz="1800" b="0" i="0" u="none" strike="noStrike" cap="none" spc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18297493" name="Titre 1"/>
          <p:cNvSpPr>
            <a:spLocks noGrp="1"/>
          </p:cNvSpPr>
          <p:nvPr>
            <p:ph type="title"/>
          </p:nvPr>
        </p:nvSpPr>
        <p:spPr bwMode="auto">
          <a:xfrm>
            <a:off x="838198" y="14940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1 : Contexte – Biens et services essentiels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30080230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14649" y="1401606"/>
          <a:ext cx="12162699" cy="54076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890000"/>
                <a:gridCol w="2970000"/>
                <a:gridCol w="1080000"/>
                <a:gridCol w="1620000"/>
                <a:gridCol w="1620000"/>
                <a:gridCol w="1170000"/>
                <a:gridCol w="1800000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Valeurs Métiers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Biens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Gravité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Disponibilité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Accessibilité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Intégrité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Confidentialité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Binaire des jeux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4/4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Firmware/OS console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4/4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Films, musiques...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1/4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Données bancaires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Avancement (conf locale)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3/4</a:t>
                      </a:r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email/mdp + données utilisateurs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VM7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Mdp + données du compte distant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VM8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Liste des participants + voix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VM9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Ce que je fais et à quelle heure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VM10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Historique + infos confidentielles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2/4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X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29179638" name="Titre 1"/>
          <p:cNvSpPr>
            <a:spLocks noGrp="1"/>
          </p:cNvSpPr>
          <p:nvPr/>
        </p:nvSpPr>
        <p:spPr bwMode="auto">
          <a:xfrm>
            <a:off x="990597" y="167339"/>
            <a:ext cx="10515600" cy="1325561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/>
              <a:t>Chapitre 1 : Contexte – Biens et services essentiels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130539769" name=""/>
          <p:cNvGraphicFramePr>
            <a:graphicFrameLocks xmlns:a="http://schemas.openxmlformats.org/drawingml/2006/main"/>
          </p:cNvGraphicFramePr>
          <p:nvPr>
            <p:ph sz="quarter" idx="4"/>
          </p:nvPr>
        </p:nvGraphicFramePr>
        <p:xfrm rot="0">
          <a:off x="381928" y="1340502"/>
          <a:ext cx="11532699" cy="385317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890000"/>
                <a:gridCol w="2970000"/>
                <a:gridCol w="1530000"/>
                <a:gridCol w="1890000"/>
                <a:gridCol w="1440000"/>
                <a:gridCol w="1800000"/>
              </a:tblGrid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Sources de risque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Objectifs visés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Motivation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Ressources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Activité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Pertinence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Jouer à des jeux non authentiques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Élevée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Concurrents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Cloner la console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Moyenne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Joueurs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Émuler la console originelle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Moyenne</a:t>
                      </a:r>
                      <a:endParaRPr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Escrocs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Vol de coordonnées bancaires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Élevée</a:t>
                      </a:r>
                      <a:endParaRPr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Concurrents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Rendre la console injouable afin de nuire à l’image de marque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+++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+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Faible</a:t>
                      </a:r>
                      <a:endParaRPr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  <p:sp>
        <p:nvSpPr>
          <p:cNvPr id="1221576536" name="Titre 1"/>
          <p:cNvSpPr>
            <a:spLocks noGrp="1"/>
          </p:cNvSpPr>
          <p:nvPr>
            <p:ph type="title"/>
          </p:nvPr>
        </p:nvSpPr>
        <p:spPr bwMode="auto">
          <a:xfrm>
            <a:off x="838198" y="14941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1 : Contexte – Sources de risque/attaquants</a:t>
            </a:r>
            <a:endParaRPr/>
          </a:p>
        </p:txBody>
      </p:sp>
      <p:sp>
        <p:nvSpPr>
          <p:cNvPr id="582570491" name=""/>
          <p:cNvSpPr/>
          <p:nvPr/>
        </p:nvSpPr>
        <p:spPr bwMode="auto">
          <a:xfrm flipH="0" flipV="0">
            <a:off x="381928" y="5332430"/>
            <a:ext cx="11538818" cy="14634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risques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plus pertinents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pour Sony :</a:t>
            </a:r>
            <a:b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	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Joueurs cherchant à pirater les jeux (3/3)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et 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cybercriminels visant les données bancaires (3/3)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sz="2400">
              <a:latin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 risques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intermédiaires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sz="1800" b="0" i="1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	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Concurrents pouvant étudier/imiter la console (2/3) et communautés d’émulation (2/3).</a:t>
            </a:r>
            <a:endParaRPr sz="2400">
              <a:latin typeface="ARial"/>
              <a:cs typeface="ARial"/>
            </a:endParaRPr>
          </a:p>
          <a:p>
            <a:pPr>
              <a:defRPr/>
            </a:pP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 risque 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 moins plausible</a:t>
            </a:r>
            <a:r>
              <a:rPr sz="1800" b="0" i="1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:</a:t>
            </a:r>
            <a:r>
              <a:rPr sz="18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 sabotage industriel direct (1/3).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56153" name="Titre 1"/>
          <p:cNvSpPr>
            <a:spLocks noGrp="1"/>
          </p:cNvSpPr>
          <p:nvPr>
            <p:ph type="title"/>
          </p:nvPr>
        </p:nvSpPr>
        <p:spPr bwMode="auto">
          <a:xfrm>
            <a:off x="838198" y="14941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2 : Événements redoutés</a:t>
            </a:r>
            <a:endParaRPr/>
          </a:p>
        </p:txBody>
      </p:sp>
      <p:graphicFrame>
        <p:nvGraphicFramePr>
          <p:cNvPr id="460004255" name=""/>
          <p:cNvGraphicFramePr>
            <a:graphicFrameLocks xmlns:a="http://schemas.openxmlformats.org/drawingml/2006/main"/>
          </p:cNvGraphicFramePr>
          <p:nvPr/>
        </p:nvGraphicFramePr>
        <p:xfrm rot="0">
          <a:off x="280146" y="1136395"/>
          <a:ext cx="11532699" cy="56819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630000"/>
                <a:gridCol w="1980000"/>
                <a:gridCol w="2520000"/>
                <a:gridCol w="2520000"/>
                <a:gridCol w="1350000"/>
                <a:gridCol w="2520000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ER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Événement redouté (description)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 / Services concernés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Biens impactés (exemples)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Gravité (1–4)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Types d’impact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Piratage massif des jeux PS4 (possibilité de jouer à des jeux non authentiques)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en ligne, VM2 Jouer à des jeux physiques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Binaire des jeux (4/4), Firmware/OS (4/4)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 (perte de ventes), Image (perte de confiance éditeurs/joueurs)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Altération du firmware / OS rendant la console instable ou injouable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VM2 Jouer à des jeux physiques, VM1/VM7 si la console ne peut plus se connecter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Firmware/OS console (4/4)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Opérationnel (console inutilisable), Image, Support SAV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Compromission des données bancaires des utilisateurs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VM4 Acheter des jeux/films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Données bancaires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Financier, Juridique, Image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Perte ou corruption des sauvegardes locales de jeux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VM5 Sauvegarde locale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Avancement (conf locale) (3/4)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Satisfaction client, Support, Fidélité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Compromission des comptes et données utilisateurs (email, mots de passe, historique, profil)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VM6 VM7 VM9 VM10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email/mdp + données utilisateurs (2/4), mdp compte distant (2/4), historique + infos confidentielles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(cumul des biens à 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Image, Vie privée, Juridique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ER6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Atteinte à la confidentialité des communications (chat vocal, liste de participants)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VM8 Chat vocal, VM9 Partage exploits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Liste des participants + voix (2/4), ce que je fais et à quelle heure (2/4)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Vie privée, Confiance dans le service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Indisponibilité significative des services en ligne (PSN, jeu en ligne, achats)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en ligne, VM3 Streaming, VM4 Achat, VM7 Connexion PSN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Services PSN, Store (gravité 3/4 côté services)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3/4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Financier, Image, Satisfaction client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01651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3 : Scénarios de menace</a:t>
            </a:r>
            <a:endParaRPr/>
          </a:p>
        </p:txBody>
      </p:sp>
      <p:graphicFrame>
        <p:nvGraphicFramePr>
          <p:cNvPr id="1666065481" name=""/>
          <p:cNvGraphicFramePr>
            <a:graphicFrameLocks xmlns:a="http://schemas.openxmlformats.org/drawingml/2006/main"/>
          </p:cNvGraphicFramePr>
          <p:nvPr/>
        </p:nvGraphicFramePr>
        <p:xfrm rot="0">
          <a:off x="518464" y="1469571"/>
          <a:ext cx="10002699" cy="52247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855782"/>
                <a:gridCol w="1828722"/>
                <a:gridCol w="1889096"/>
                <a:gridCol w="3380488"/>
                <a:gridCol w="1093687"/>
                <a:gridCol w="1988522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Scénario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 de risque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 ciblé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Description du scénario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Probabilité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Justification (à l’oral ou en note)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SM1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Joueurs – jouer à des jeux non authentiques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(piratage des jeux)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 joueur suit un tutoriel (forum / YouTube) pour exploiter une faille du firmware, installer un custom firmware et lancer des jeux non authentiques.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Motivation +++ ; Activité ++ ; Pertinence élevée → probabilité forte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Joueurs – émuler la console originelle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 communautés d’émulation analysent les binaires et le firmware pour développer un émulateur PS4 sur PC, permettant de lancer des jeux sans console.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Moyenne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Motivation ++ ; Ressources + ; Activité +++ → probabilité moyenne à forte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SM3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Escrocs – vol de coordonnées bancaires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 (données bancaires)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Des cybercriminels mettent en place des pages de phishing imitant le PS Store / PSN pour récupérer les identifiants et données CB des joueurs.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Motivation +++ ; Ressources +++ ; Activité +++ ; Pertinence élevée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SM4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Escrocs – vol de comptes PSN / données utilisateur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 (compte et données)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Attaques par phishing, récupération de mots de passe réutilisés, puis accès aux comptes PSN (e-mail/mdp) et historique.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Moyenne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Même profil que SM3, mais cible les comptes plutôt que la CB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SM5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Concurrents – cloner partiellement la console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ER2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 concurrent analyse la console (reverse engineering) pour reproduire certaines fonctions matérielles/logicielles ou contourner des protections.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Faible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Motivation + ; Activité + ; Ressources +++ mais risque juridique → probabilité faible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SM6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Concurrents – rendre la console injouable pour nuire à l’image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 / ER7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Hypothèse de sabotage (exemple théorique) via exploitation de vulnérabilités ou campagnes de désinformation sur la stabilité de la console.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endParaRPr sz="1200" b="1" i="0" u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Faible</a:t>
                      </a:r>
                      <a:endParaRPr b="1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Pertinence faible selon ton tableau ; scénario très spéculatif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8261199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4 : Risques (cotation)</a:t>
            </a:r>
            <a:endParaRPr/>
          </a:p>
        </p:txBody>
      </p:sp>
      <p:sp>
        <p:nvSpPr>
          <p:cNvPr id="1769376407" name="Espace réservé du contenu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1690687"/>
            <a:ext cx="6346176" cy="449897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Ici on combine :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1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Impact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(gravité de l’ER) × </a:t>
            </a:r>
            <a:r>
              <a:rPr lang="fr-FR" sz="1800" b="0" i="1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Probabilité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(scénario)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et on classe en : Faible / Moyen / Élevé / Critique.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On définit l’échelle suivante :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1–3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00FF00"/>
                </a:highlight>
                <a:latin typeface="Arial"/>
                <a:ea typeface="Arial"/>
                <a:cs typeface="Arial"/>
              </a:rPr>
              <a:t>Faible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4–6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</a:rPr>
              <a:t>Moyen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7–9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FF0000"/>
                </a:highlight>
                <a:latin typeface="Arial"/>
                <a:ea typeface="Arial"/>
                <a:cs typeface="Arial"/>
              </a:rPr>
              <a:t>Élevé</a:t>
            </a: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sz="1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10–12 : </a:t>
            </a:r>
            <a:r>
              <a:rPr lang="fr-FR" sz="1800" b="0" i="0" u="none" strike="noStrike" cap="none" spc="0">
                <a:solidFill>
                  <a:schemeClr val="tx1"/>
                </a:solidFill>
                <a:highlight>
                  <a:srgbClr val="8B0000"/>
                </a:highlight>
                <a:latin typeface="Arial"/>
                <a:ea typeface="Arial"/>
                <a:cs typeface="Arial"/>
              </a:rPr>
              <a:t>Critique </a:t>
            </a:r>
            <a:endParaRPr sz="1800"/>
          </a:p>
        </p:txBody>
      </p:sp>
      <p:graphicFrame>
        <p:nvGraphicFramePr>
          <p:cNvPr id="1068566569" name=""/>
          <p:cNvGraphicFramePr>
            <a:graphicFrameLocks xmlns:a="http://schemas.openxmlformats.org/drawingml/2006/main"/>
          </p:cNvGraphicFramePr>
          <p:nvPr/>
        </p:nvGraphicFramePr>
        <p:xfrm rot="0">
          <a:off x="6900213" y="2491014"/>
          <a:ext cx="4850357" cy="360244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360000"/>
                <a:gridCol w="1492552"/>
                <a:gridCol w="1492552"/>
                <a:gridCol w="1492552"/>
              </a:tblGrid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0"/>
                        <a:t>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R5 – R6</a:t>
                      </a: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R4</a:t>
                      </a:r>
                      <a:endParaRPr b="1"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R3</a:t>
                      </a:r>
                      <a:endParaRPr b="1"/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R2</a:t>
                      </a:r>
                      <a:endParaRPr b="1"/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b="1"/>
                        <a:t>R1</a:t>
                      </a:r>
                      <a:endParaRPr b="1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</a:tr>
              <a:tr h="80599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endParaRPr b="1"/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</a:tr>
              <a:tr h="90000">
                <a:tc>
                  <a:txBody>
                    <a:bodyPr/>
                    <a:p>
                      <a:pPr algn="ctr">
                        <a:defRPr/>
                      </a:pP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42760954" name=""/>
          <p:cNvSpPr txBox="1"/>
          <p:nvPr/>
        </p:nvSpPr>
        <p:spPr bwMode="auto">
          <a:xfrm rot="0" flipH="0" flipV="0">
            <a:off x="8693516" y="6093459"/>
            <a:ext cx="1263751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Probabilité</a:t>
            </a:r>
            <a:endParaRPr/>
          </a:p>
        </p:txBody>
      </p:sp>
      <p:sp>
        <p:nvSpPr>
          <p:cNvPr id="1346496852" name=""/>
          <p:cNvSpPr txBox="1"/>
          <p:nvPr/>
        </p:nvSpPr>
        <p:spPr bwMode="auto">
          <a:xfrm rot="16199969" flipH="0" flipV="0">
            <a:off x="6282344" y="4109175"/>
            <a:ext cx="86961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Impact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705739" name="Titr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365124"/>
            <a:ext cx="11326390" cy="1325562"/>
          </a:xfrm>
        </p:spPr>
        <p:txBody>
          <a:bodyPr/>
          <a:lstStyle/>
          <a:p>
            <a:pPr>
              <a:defRPr/>
            </a:pPr>
            <a:r>
              <a:rPr/>
              <a:t>Chapitre 4 : Risques – Cotation des risques</a:t>
            </a:r>
            <a:endParaRPr/>
          </a:p>
        </p:txBody>
      </p:sp>
      <p:graphicFrame>
        <p:nvGraphicFramePr>
          <p:cNvPr id="662088260" name=""/>
          <p:cNvGraphicFramePr>
            <a:graphicFrameLocks xmlns:a="http://schemas.openxmlformats.org/drawingml/2006/main"/>
          </p:cNvGraphicFramePr>
          <p:nvPr/>
        </p:nvGraphicFramePr>
        <p:xfrm rot="0">
          <a:off x="54428" y="1455964"/>
          <a:ext cx="12284030" cy="531621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990000"/>
                <a:gridCol w="2641998"/>
                <a:gridCol w="2628680"/>
                <a:gridCol w="1029320"/>
                <a:gridCol w="1440000"/>
                <a:gridCol w="900000"/>
                <a:gridCol w="2426399"/>
              </a:tblGrid>
              <a:tr h="3848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 Risque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Scénario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 associé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Impact (1–4)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Probabilité (1–3)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Score (I×P)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Niveau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SM3 – Phishing CB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ER3 – Compromission données bancaires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 à élevé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(surtout sensible image/juridique)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SM4 – Vol de comptes PSN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ER5 – Compromission comptes et données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SM1 – Custom firmware / jeux non authentiques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– Piratage massif des jeux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Critique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(risque économique majeur)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SM2 – Émulation PS4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Élevé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(impact fort mais mise en œuvre plus complexe)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R5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SM5 – Clonage par concurrents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ER1 / ER2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R6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SM6 – Sabotage par concurrents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ER2 / ER7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Moyen</a:t>
                      </a: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 (scénario peu probable mais impact fort)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918492" name="Titre 1"/>
          <p:cNvSpPr>
            <a:spLocks noGrp="1"/>
          </p:cNvSpPr>
          <p:nvPr>
            <p:ph type="title"/>
          </p:nvPr>
        </p:nvSpPr>
        <p:spPr bwMode="auto">
          <a:xfrm>
            <a:off x="839787" y="15501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5 : Mesures de sécurité</a:t>
            </a:r>
            <a:endParaRPr/>
          </a:p>
        </p:txBody>
      </p:sp>
      <p:graphicFrame>
        <p:nvGraphicFramePr>
          <p:cNvPr id="1216310276" name=""/>
          <p:cNvGraphicFramePr>
            <a:graphicFrameLocks xmlns:a="http://schemas.openxmlformats.org/drawingml/2006/main"/>
          </p:cNvGraphicFramePr>
          <p:nvPr/>
        </p:nvGraphicFramePr>
        <p:xfrm>
          <a:off x="70036" y="1312489"/>
          <a:ext cx="11982699" cy="84251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2430000"/>
                <a:gridCol w="1440000"/>
                <a:gridCol w="6300000"/>
                <a:gridCol w="1800000"/>
              </a:tblGrid>
              <a:tr h="411646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Risque prioritaire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Objectif de sécurité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Mesures de sécurité (exemples)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Type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757621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 – Piratage des jeux (custom firmware, jeux non authentiques)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l’intégrité des jeux et du firmware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Secure boot, signature numérique obligatoire des binaires, vérification d’intégrité du firmware, chiffrement des partitions sensibles, mises à jour régulières pour corriger les failles exploitées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584633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Monitoring des consoles détectées non conformes, mécanisme de bannissement de compte/console, détection d’anomalies côté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93060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 – Vol de comptes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l’authentification et les données utilisateur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Authentification renforcée (2FA), détection de connexions suspectes, limitation des tentatives de login, sensibilisation des joueurs aux risques de phishing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584633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Alertes utilisateur en cas de connexion depuis un nouvel appareil / pays, mécanisme simple de récupération de compte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93060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R4 – Émulation PS4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Limiter le reverse engineering et la facilité d’émulation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Durcissement du firmware, vérification matérielle (présence de composants spécifiques), protocoles propriétaires entre console et PSN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757621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 – Vol de données bancaires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Protéger la confidentialité des paiements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Paiement via prestataires conformes PCI-DSS, tokenisation des cartes, chiffrement fort des canaux, aucune conservation locale des données CB sur la PS4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Prévention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411646"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Systèmes de détection de fraude, alerte et blocage en cas de comportements anormaux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Détection / Réaction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397178" name="Titr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Chapitre 5 : Mesures de sécurité</a:t>
            </a:r>
            <a:endParaRPr/>
          </a:p>
        </p:txBody>
      </p:sp>
      <p:graphicFrame>
        <p:nvGraphicFramePr>
          <p:cNvPr id="1253500161" name=""/>
          <p:cNvGraphicFramePr>
            <a:graphicFrameLocks xmlns:a="http://schemas.openxmlformats.org/drawingml/2006/main"/>
          </p:cNvGraphicFramePr>
          <p:nvPr/>
        </p:nvGraphicFramePr>
        <p:xfrm>
          <a:off x="2253540" y="2255519"/>
          <a:ext cx="7700794" cy="28473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{5940675A-B579-460E-94D1-54222C63F5DA}</a:tableStyleId>
              </a:tblPr>
              <a:tblGrid>
                <a:gridCol w="2802140"/>
                <a:gridCol w="1157859"/>
                <a:gridCol w="3728094"/>
              </a:tblGrid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 critique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Risques couverts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1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Mesures clés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VM1 Jouer à des jeux en ligne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R3, R4, R7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Intégrité des jeux, disponibilité PSN, mise à jour régulière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20193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VM4 Acheter des jeux/films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R1, 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Sécurisation des paiements, protection des comptes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  <a:tr h="384810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VM6/VM7 Authentification &amp; compte distant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R2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2FA, politiques de mots de passe, surveillance des connexions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2025-11-18T19:24:19Z</dcterms:modified>
</cp:coreProperties>
</file>