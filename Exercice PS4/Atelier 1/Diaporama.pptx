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496315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77278295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1074520425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121458377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92163220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63678689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925993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972118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891840940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50068-02D0-2CF5-C7E6-623F9678F9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3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297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252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259FAD-4DAD-4A08-26EB-5B079F99F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444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83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154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CC7467-82FF-F909-D5AA-BCED612018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5581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158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14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4D6470-CB11-2D4D-6E21-6475DDC88D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997580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928338211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29054627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71144626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5312743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33035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89969188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38358282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08014847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7811757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97995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3991400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10909047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75059036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4237116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19011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29608306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912513186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85436804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11162169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624784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217056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03126083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7100972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127767344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11509812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899896300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78049545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2624742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98171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046054310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603417395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50263068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712003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0478098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79422591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744210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46228783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24787206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379768600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07685235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46133932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645153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8941150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288604499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926544076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345750412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8477489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36350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074127834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43070463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6174350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3721006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462033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583750345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9524396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9918211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5106179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932147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45599292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835368379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932400350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8970069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2308697" name=""/>
          <p:cNvPicPr>
            <a:picLocks noChangeAspect="1"/>
          </p:cNvPicPr>
          <p:nvPr/>
        </p:nvPicPr>
        <p:blipFill rotWithShape="1">
          <a:blip r:embed="rId3"/>
          <a:srcRect l="0" t="1801" r="0" b="0"/>
          <a:stretch/>
        </p:blipFill>
        <p:spPr bwMode="auto">
          <a:xfrm flipH="0" flipV="0">
            <a:off x="62898" y="2941543"/>
            <a:ext cx="12066475" cy="3053602"/>
          </a:xfrm>
          <a:prstGeom prst="rect">
            <a:avLst/>
          </a:prstGeom>
        </p:spPr>
      </p:pic>
      <p:sp>
        <p:nvSpPr>
          <p:cNvPr id="1522009501" name="Titre 1"/>
          <p:cNvSpPr>
            <a:spLocks noGrp="1"/>
          </p:cNvSpPr>
          <p:nvPr/>
        </p:nvSpPr>
        <p:spPr bwMode="auto">
          <a:xfrm>
            <a:off x="838199" y="14940"/>
            <a:ext cx="10515600" cy="1325562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Activité 1 : Cadrage et socle de sécurité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667932466" name=""/>
          <p:cNvGraphicFramePr>
            <a:graphicFrameLocks xmlns:a="http://schemas.openxmlformats.org/drawingml/2006/main"/>
          </p:cNvGraphicFramePr>
          <p:nvPr>
            <p:ph sz="quarter" idx="4"/>
          </p:nvPr>
        </p:nvGraphicFramePr>
        <p:xfrm>
          <a:off x="1433" y="1434278"/>
          <a:ext cx="12158382" cy="45846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2281941"/>
                <a:gridCol w="3368580"/>
                <a:gridCol w="1195302"/>
                <a:gridCol w="1955949"/>
                <a:gridCol w="1955949"/>
                <a:gridCol w="1387956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Valeurs Métiers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Services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Gravité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Disponibilité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Accessibilité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Intégrité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Jouer à des jeux en ligne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3/4</a:t>
                      </a:r>
                      <a:endParaRPr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Jouer à des jeux physiques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1/4</a:t>
                      </a:r>
                      <a:endParaRPr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Regarder des films, musique...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3/4</a:t>
                      </a:r>
                      <a:endParaRPr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Acheter des jeux, des films...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2/4</a:t>
                      </a:r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Sauvegarde locale des jeux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1/4</a:t>
                      </a:r>
                      <a:endParaRPr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Authentification (comptes, profile utilisateur)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2/4</a:t>
                      </a:r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 connecter au PSN (jeu en ligne)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3/4</a:t>
                      </a:r>
                      <a:endParaRPr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Chat vocal pour communiquer</a:t>
                      </a:r>
                      <a:endParaRPr lang="fr-FR" sz="1800" b="0" i="0" u="none" strike="noStrike" cap="none" spc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1/4</a:t>
                      </a:r>
                      <a:endParaRPr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Partager ses exploits</a:t>
                      </a:r>
                      <a:endParaRPr lang="fr-FR" sz="1800" b="0" i="0" u="none" strike="noStrike" cap="none" spc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1/4</a:t>
                      </a:r>
                      <a:endParaRPr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VM10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Accès au web</a:t>
                      </a:r>
                      <a:endParaRPr lang="fr-FR" sz="1800" b="0" i="0" u="none" strike="noStrike" cap="none" spc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1/4</a:t>
                      </a:r>
                      <a:endParaRPr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851472303" name="Titre 1"/>
          <p:cNvSpPr>
            <a:spLocks noGrp="1"/>
          </p:cNvSpPr>
          <p:nvPr>
            <p:ph type="title"/>
          </p:nvPr>
        </p:nvSpPr>
        <p:spPr bwMode="auto">
          <a:xfrm>
            <a:off x="838199" y="14940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Activité 1 : Cadrage et socle de sécurité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21687947" name=""/>
          <p:cNvGraphicFramePr>
            <a:graphicFrameLocks xmlns:a="http://schemas.openxmlformats.org/drawingml/2006/main"/>
          </p:cNvGraphicFramePr>
          <p:nvPr>
            <p:ph sz="quarter" idx="4"/>
          </p:nvPr>
        </p:nvGraphicFramePr>
        <p:xfrm>
          <a:off x="14649" y="1401606"/>
          <a:ext cx="12162699" cy="54076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1890000"/>
                <a:gridCol w="2970000"/>
                <a:gridCol w="1080000"/>
                <a:gridCol w="1620000"/>
                <a:gridCol w="1620000"/>
                <a:gridCol w="1170000"/>
                <a:gridCol w="1800000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Valeurs Métiers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Biens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Gravité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Disponibilité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Accessibilité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Intégrité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Confidentialité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Binaire des jeux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4/4</a:t>
                      </a:r>
                      <a:endParaRPr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Firmware/OS console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4/4</a:t>
                      </a:r>
                      <a:endParaRPr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Films, musiques...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1/4</a:t>
                      </a:r>
                      <a:endParaRPr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Données bancaires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2/4</a:t>
                      </a:r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Avancement (conf locale)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3/4</a:t>
                      </a:r>
                      <a:endParaRPr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email/mdp + données utilisateurs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2/4</a:t>
                      </a:r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Mdp + données du compte distant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2/4</a:t>
                      </a:r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Liste des participants + voix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2/4</a:t>
                      </a:r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Ce que je fais et à quelle heure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2/4</a:t>
                      </a:r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VM10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Historique + infos confidentielles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2/4</a:t>
                      </a:r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27242862" name="Titre 1"/>
          <p:cNvSpPr>
            <a:spLocks noGrp="1"/>
          </p:cNvSpPr>
          <p:nvPr>
            <p:ph type="title"/>
          </p:nvPr>
        </p:nvSpPr>
        <p:spPr bwMode="auto">
          <a:xfrm>
            <a:off x="838199" y="14941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Activité 1 : Cadrage et socle de sécurité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78547882" name=""/>
          <p:cNvGraphicFramePr>
            <a:graphicFrameLocks xmlns:a="http://schemas.openxmlformats.org/drawingml/2006/main"/>
          </p:cNvGraphicFramePr>
          <p:nvPr>
            <p:ph sz="quarter" idx="4"/>
          </p:nvPr>
        </p:nvGraphicFramePr>
        <p:xfrm>
          <a:off x="3659649" y="1625724"/>
          <a:ext cx="4872699" cy="38531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1890000"/>
                <a:gridCol w="2970000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Sources de risque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Objectifs visés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Joueurs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Jouer à des jeux non authentiques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Concurrents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Cloner la console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Joueurs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Émuler la console originelle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Escrocs et autres filous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Vol de coordonnées bancaires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Concurrents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Rendre la console injouable afin de nuire à l’image de marque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7405842" name="Titre 1"/>
          <p:cNvSpPr>
            <a:spLocks noGrp="1"/>
          </p:cNvSpPr>
          <p:nvPr>
            <p:ph type="title"/>
          </p:nvPr>
        </p:nvSpPr>
        <p:spPr bwMode="auto">
          <a:xfrm>
            <a:off x="838199" y="14941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Activité 2 : Source de risque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44102969" name=""/>
          <p:cNvGraphicFramePr>
            <a:graphicFrameLocks xmlns:a="http://schemas.openxmlformats.org/drawingml/2006/main"/>
          </p:cNvGraphicFramePr>
          <p:nvPr>
            <p:ph sz="quarter" idx="4"/>
          </p:nvPr>
        </p:nvGraphicFramePr>
        <p:xfrm>
          <a:off x="3659649" y="1625724"/>
          <a:ext cx="4872699" cy="38531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1890000"/>
                <a:gridCol w="2970000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Sources de risque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Objectifs visés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Joueurs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Jouer à des jeux non authentiques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Concurrents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Cloner la console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Joueurs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Émuler la console originelle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Escrocs et autres filous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Vol de coordonnées bancaires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Concurrents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Rendre la console injouable afin de nuire à l’image de marque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6787297" name="Titre 1"/>
          <p:cNvSpPr>
            <a:spLocks noGrp="1"/>
          </p:cNvSpPr>
          <p:nvPr>
            <p:ph type="title"/>
          </p:nvPr>
        </p:nvSpPr>
        <p:spPr bwMode="auto">
          <a:xfrm>
            <a:off x="838199" y="14941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Chapitre 3 : Scénarios stratégiques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2025-11-12T16:19:00Z</dcterms:modified>
</cp:coreProperties>
</file>